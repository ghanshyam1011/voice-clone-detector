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Handcrafted + GBM (Gen-1)</c:v>
                </c:pt>
              </c:strCache>
            </c:strRef>
          </c:tx>
          <c:spPr>
            <a:solidFill>
              <a:srgbClr val="B9C0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7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Dev (known)</c:v>
                  </c:pt>
                  <c:pt idx="1">
                    <c:v>Eval (unseen)</c:v>
                  </c:pt>
                  <c:pt idx="2">
                    <c:v>In-the-Wild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33.4</c:v>
                </c:pt>
                <c:pt idx="2">
                  <c:v>58.2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AASIST (published weights)</c:v>
                </c:pt>
              </c:strCache>
            </c:strRef>
          </c:tx>
          <c:spPr>
            <a:solidFill>
              <a:srgbClr val="5B6E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7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Dev (known)</c:v>
                  </c:pt>
                  <c:pt idx="1">
                    <c:v>Eval (unseen)</c:v>
                  </c:pt>
                  <c:pt idx="2">
                    <c:v>In-the-Wild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9.6</c:v>
                </c:pt>
                <c:pt idx="1">
                  <c:v>23.3</c:v>
                </c:pt>
                <c:pt idx="2">
                  <c:v>35.8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17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17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58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584"/>
                    </a:solidFill>
                    <a:latin typeface="Arial"/>
                  </a:rPr>
                  <a:t>EER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C658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recall</c:v>
                </c:pt>
              </c:strCache>
            </c:strRef>
          </c:tx>
          <c:spPr>
            <a:solidFill>
              <a:srgbClr val="5B6EF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217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Marathi</c:v>
                  </c:pt>
                  <c:pt idx="1">
                    <c:v>Hindi</c:v>
                  </c:pt>
                  <c:pt idx="2">
                    <c:v>Tamil</c:v>
                  </c:pt>
                  <c:pt idx="3">
                    <c:v>Bengali</c:v>
                  </c:pt>
                  <c:pt idx="4">
                    <c:v>English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57.5</c:v>
                </c:pt>
                <c:pt idx="2">
                  <c:v>55</c:v>
                </c:pt>
                <c:pt idx="3">
                  <c:v>37.5</c:v>
                </c:pt>
                <c:pt idx="4">
                  <c:v>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217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17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7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58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584"/>
                    </a:solidFill>
                    <a:latin typeface="Arial"/>
                  </a:rPr>
                  <a:t>Synthetic recall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400800" cy="6400800"/>
          </a:xfrm>
          <a:prstGeom prst="ellipse">
            <a:avLst/>
          </a:prstGeom>
          <a:solidFill>
            <a:srgbClr val="5B6EF5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029200" cy="5029200"/>
          </a:xfrm>
          <a:prstGeom prst="ellipse">
            <a:avLst/>
          </a:prstGeom>
          <a:solidFill>
            <a:srgbClr val="5B6E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105156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6" name="Shape 4"/>
          <p:cNvSpPr/>
          <p:nvPr/>
        </p:nvSpPr>
        <p:spPr>
          <a:xfrm>
            <a:off x="1335024" y="777240"/>
            <a:ext cx="146304" cy="137160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7" name="Shape 5"/>
          <p:cNvSpPr/>
          <p:nvPr/>
        </p:nvSpPr>
        <p:spPr>
          <a:xfrm>
            <a:off x="1591056" y="1005840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8" name="Shape 6"/>
          <p:cNvSpPr/>
          <p:nvPr/>
        </p:nvSpPr>
        <p:spPr>
          <a:xfrm>
            <a:off x="1847088" y="1188720"/>
            <a:ext cx="146304" cy="54864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SIH26104 · SMART INDIA HACKATHON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688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947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multi-signal voice-integrity layer for high-risk phone calls —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06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 honest measurement of where synthetic-speech detection actually stands.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Ghanshyam Kumavat · Team · Your Institution Name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A4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[DRAFT — update team names before presenting]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turned a</a:t>
            </a:r>
            <a:endParaRPr lang="en-US" sz="3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into an attack surface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5943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 and call centres still treat a caller's voice as a soft proof of identity — for confirming a transfer, changing a beneficiary, or resetting a credential.
</a:t>
            </a:r>
            <a:endParaRPr lang="en-US" sz="15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text-to-speech and voice-conversion systems need only a short clip of a target's speech to produce a clone convincing over a telephone channel.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868680"/>
            <a:ext cx="4480560" cy="2331720"/>
          </a:xfrm>
          <a:prstGeom prst="roundRect">
            <a:avLst>
              <a:gd name="adj" fmla="val 4706"/>
            </a:avLst>
          </a:prstGeom>
          <a:solidFill>
            <a:srgbClr val="F2F4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609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SECONDS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15087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target's speech is enough for modern TTS / voice-conversion to produce a convincing clone.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0" y="3429000"/>
            <a:ext cx="4480560" cy="2331720"/>
          </a:xfrm>
          <a:prstGeom prst="roundRect">
            <a:avLst>
              <a:gd name="adj" fmla="val 4706"/>
            </a:avLst>
          </a:prstGeom>
          <a:solidFill>
            <a:srgbClr val="F2F4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6092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CHECK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406908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call has no face to verify — voice is the only signal, and it's exactly the one being attacked.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brief behind SIH26104: a real-time voice-integrity layer for exactly this call.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PUBLISHED RESULTS CLAIM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trike="sngStrike" dirty="0">
                <a:solidFill>
                  <a:srgbClr val="545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 EER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published, in-domain accuracy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004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35.8%</a:t>
            </a:r>
            <a:endParaRPr lang="en-US" sz="7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634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Error Rate on In-the-Wild audio — the same countermeasure, evaluated honestly on speech it never saw in training.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8240" y="1371600"/>
            <a:ext cx="2743200" cy="4206240"/>
          </a:xfrm>
          <a:prstGeom prst="roundRect">
            <a:avLst>
              <a:gd name="adj" fmla="val 5333"/>
            </a:avLst>
          </a:prstGeom>
          <a:solidFill>
            <a:srgbClr val="1B25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052560" y="16916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evaluations report up to an order-of-magnitude degradation on real-world audio.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33832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reproduced this ourselves — on a model we did not even train.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B6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879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00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82880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detector generalizes</a:t>
            </a:r>
            <a:endParaRPr lang="en-US" sz="3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voice it has never heard.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7490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stopped searching for a better classifier — and built a system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doesn't need any one signal to be perfect.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B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DESIGN THESIS BEHIND VOICEGUARD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TRUSTED A SINGLE NUMBER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our own benchmark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lying to 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6309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 fide and spoofed clips in the standard ASVspoof 2019 corpus differ systematically in leading/trailing silence — an artifact of how the dataset was assembled, unrelated to synthesis.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partly solve the labelling task without ever listening to the voice itself.
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trim and loudness-normalise identically for both classes, fingerprint every setting, and gate every future model against this exact test.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9AA3C7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5895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89720" y="1481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CHANCE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8972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uninformative signal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283464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DC2626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58952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13–15%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9189720" y="2944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SCORED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the silent parts of the clip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457200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F2F4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589520" y="4800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fix: 41–59% — models are keying on speech, not the artifact.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VOICEGUARD DECIDES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pipeline, four signals, one auditable decision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28" y="1417320"/>
            <a:ext cx="10607040" cy="62710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ALONE, PARTLY INDEPENDENT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2011680"/>
          </a:xfrm>
          <a:prstGeom prst="roundRect">
            <a:avLst>
              <a:gd name="adj" fmla="val 6364"/>
            </a:avLst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60A5FA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984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voice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44144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AASIST acoustic model — 35.8% EER alone, misses modern TTS entirely.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91640"/>
            <a:ext cx="5212080" cy="2011680"/>
          </a:xfrm>
          <a:prstGeom prst="roundRect">
            <a:avLst>
              <a:gd name="adj" fmla="val 6364"/>
            </a:avLst>
          </a:prstGeom>
          <a:solidFill>
            <a:srgbClr val="F0FDF4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96596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4ADE80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6294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19842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consistency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44144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WavLM voiceprint vs. the enrolled caller — catches clones the acoustics miss.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12080" cy="2011680"/>
          </a:xfrm>
          <a:prstGeom prst="roundRect">
            <a:avLst>
              <a:gd name="adj" fmla="val 6364"/>
            </a:avLst>
          </a:prstGeom>
          <a:solidFill>
            <a:srgbClr val="FEFCE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976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FACC15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315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Prosody &amp; behaviour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477316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Praat features: rhythm, pitch, pauses — weak by design, independent evidence.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4023360"/>
            <a:ext cx="5212080" cy="2011680"/>
          </a:xfrm>
          <a:prstGeom prst="roundRect">
            <a:avLst>
              <a:gd name="adj" fmla="val 6364"/>
            </a:avLst>
          </a:prstGeom>
          <a:solidFill>
            <a:srgbClr val="FAF5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629400" y="429768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C084FC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62940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1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315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context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477316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ID, transfer amount — the one signal that isn't acoustic at all.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CLAIMED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performance through our front-end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08760"/>
          <a:ext cx="7315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08760"/>
            <a:ext cx="3291840" cy="4754880"/>
          </a:xfrm>
          <a:prstGeom prst="roundRect">
            <a:avLst>
              <a:gd name="adj" fmla="val 3333"/>
            </a:avLst>
          </a:prstGeom>
          <a:solidFill>
            <a:srgbClr val="F2F4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148840"/>
            <a:ext cx="2743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better.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35.8% In-the-Wild is a real improvement over our own 58.2% baseline — 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still not a deployable number.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EER looks worse than published (9.6% vs. ~1%) because our front-end removes the shortcut those figures partly relied on — the honest score is the higher one.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REPRODUCIBLE SESSION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fusion earns its place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2F4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MODEL ALONE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100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below the system's own 65/100 synthetic-voice threshold.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931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in isolation, this call goes through.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VOICEGUARD, FUSED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/ 100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9921240" y="1892808"/>
            <a:ext cx="1097280" cy="1097280"/>
          </a:xfrm>
          <a:prstGeom prst="roundRect">
            <a:avLst>
              <a:gd name="adj" fmla="val 11667"/>
            </a:avLst>
          </a:prstGeom>
          <a:solidFill>
            <a:srgbClr val="DC2626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921240" y="189280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358444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mismatch — similarity 0.33 vs. enrolled voice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408736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12280" y="397764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 number not recognised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459028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448056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₹75,000 transfer requested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 the acoustics miss is caught by another — that's the whole design.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INDICCALL-EVAL PILOT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languages, one surprise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7132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554480"/>
            <a:ext cx="3520440" cy="4480560"/>
          </a:xfrm>
          <a:prstGeom prst="roundRect">
            <a:avLst>
              <a:gd name="adj" fmla="val 3117"/>
            </a:avLst>
          </a:prstGeom>
          <a:solidFill>
            <a:srgbClr val="F2F4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40 clips / language · MMS-TTS · threshold 0.65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3774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only on English — yet it flags Indian-language clones more often than English ones.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0233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 synthesis sits further from the “natural English” distribution the model learned — not evidence of real multilingual robustness. A recall number, not yet an EER.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 — A RUNNING FASTAPI + WEBSOCKET SERVICE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operator sees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banner, fused-risk timeline, and four live signal meters — the same numbers as the worked example.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change writes a feature-only audit event: scores, reasons, model version, git commit. No audio. No transcript.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52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 API · operator console · acknowledge-to-clear alert 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26480" y="1188720"/>
            <a:ext cx="5486400" cy="51206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 PROGRESS — TRANSACTION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8745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19659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approval — verify the caller through the registered number.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voice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0" y="3511296"/>
            <a:ext cx="2103120" cy="201168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0" y="3511296"/>
            <a:ext cx="609905" cy="201168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018520" y="34472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041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mismatch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9680" y="4078224"/>
            <a:ext cx="2103120" cy="201168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869680" y="4078224"/>
            <a:ext cx="2103120" cy="201168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018520" y="40142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6085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Prosody / behaviour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69680" y="4645152"/>
            <a:ext cx="2103120" cy="201168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0" y="4645152"/>
            <a:ext cx="420624" cy="201168"/>
          </a:xfrm>
          <a:prstGeom prst="roundRect">
            <a:avLst>
              <a:gd name="adj" fmla="val 50000"/>
            </a:avLst>
          </a:prstGeom>
          <a:solidFill>
            <a:srgbClr val="FACC1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018520" y="45811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175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context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869680" y="5212080"/>
            <a:ext cx="2103120" cy="201168"/>
          </a:xfrm>
          <a:prstGeom prst="roundRect">
            <a:avLst>
              <a:gd name="adj" fmla="val 50000"/>
            </a:avLst>
          </a:prstGeom>
          <a:solidFill>
            <a:srgbClr val="E9EC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869680" y="5212080"/>
            <a:ext cx="1367028" cy="201168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018520" y="51480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806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Feature-only audit trail: ALLOW → ESCALATE → ACKNOWLEDGED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LIMITS, STATED PLAINLY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honest about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9AA3C7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8424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our trained model — published AASIST weights, re-evaluated honestly through our front-end.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9AA3C7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94436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weights and policy thresholds are documented operating points, not calibrated on held-out data.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9AA3C7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90448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acoustic model's 4-second window is slower than a sub-2-second first-read target.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9AA3C7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864608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IndicCall-Eval pilot is synthetic-only, 40 clips per language — no bona fide multilingual slice yet.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943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show the gaps than hide them.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83080" y="3429000"/>
            <a:ext cx="8625535" cy="0"/>
          </a:xfrm>
          <a:prstGeom prst="line">
            <a:avLst/>
          </a:prstGeom>
          <a:noFill/>
          <a:ln w="25400">
            <a:solidFill>
              <a:srgbClr val="E3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3108960"/>
            <a:ext cx="640080" cy="640080"/>
          </a:xfrm>
          <a:prstGeom prst="ellipse">
            <a:avLst/>
          </a:prstGeom>
          <a:solidFill>
            <a:srgbClr val="5B6EF5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4572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T4 fine-tune — target &lt; 15% ITW EER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9404" y="3108960"/>
            <a:ext cx="640080" cy="640080"/>
          </a:xfrm>
          <a:prstGeom prst="ellipse">
            <a:avLst/>
          </a:prstGeom>
          <a:solidFill>
            <a:srgbClr val="C7CDEC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59404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910764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27884" y="4572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tuned points with held-out probability calibration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75808" y="3108960"/>
            <a:ext cx="640080" cy="640080"/>
          </a:xfrm>
          <a:prstGeom prst="ellipse">
            <a:avLst/>
          </a:prstGeom>
          <a:solidFill>
            <a:srgbClr val="C7CDEC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775808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227168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044288" y="4572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gate + lightweight first-pass, sub-2s read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211" y="3108960"/>
            <a:ext cx="640080" cy="640080"/>
          </a:xfrm>
          <a:prstGeom prst="ellipse">
            <a:avLst/>
          </a:prstGeom>
          <a:solidFill>
            <a:srgbClr val="C7CDEC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92211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43571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alerts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60691" y="4572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email / webhook — plus gRPC + SDK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408615" y="3108960"/>
            <a:ext cx="640080" cy="640080"/>
          </a:xfrm>
          <a:prstGeom prst="ellipse">
            <a:avLst/>
          </a:prstGeom>
          <a:solidFill>
            <a:srgbClr val="C7CDEC"/>
          </a:solidFill>
          <a:ln/>
          <a:effectLst>
            <a:outerShdw sx="100000" sy="100000" kx="0" ky="0" algn="bl" rotWithShape="0" blurRad="76200" dist="25400" dir="5400000">
              <a:srgbClr val="1B2547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408615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859975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data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77095" y="4572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Consented bona fide recordings per language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· SIH26104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5B6EF5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55768" y="2560320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4" name="Shape 2"/>
          <p:cNvSpPr/>
          <p:nvPr/>
        </p:nvSpPr>
        <p:spPr>
          <a:xfrm>
            <a:off x="5711800" y="2377440"/>
            <a:ext cx="146304" cy="82296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5" name="Shape 3"/>
          <p:cNvSpPr/>
          <p:nvPr/>
        </p:nvSpPr>
        <p:spPr>
          <a:xfrm>
            <a:off x="5967832" y="2103120"/>
            <a:ext cx="146304" cy="137160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6" name="Shape 4"/>
          <p:cNvSpPr/>
          <p:nvPr/>
        </p:nvSpPr>
        <p:spPr>
          <a:xfrm>
            <a:off x="6223864" y="2331720"/>
            <a:ext cx="146304" cy="91440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7" name="Shape 5"/>
          <p:cNvSpPr/>
          <p:nvPr/>
        </p:nvSpPr>
        <p:spPr>
          <a:xfrm>
            <a:off x="6479896" y="2514600"/>
            <a:ext cx="146304" cy="548640"/>
          </a:xfrm>
          <a:prstGeom prst="roundRect">
            <a:avLst>
              <a:gd name="adj" fmla="val 50000"/>
            </a:avLst>
          </a:prstGeom>
          <a:solidFill>
            <a:srgbClr val="5B6EF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0" y="379476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the signals.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0" y="443484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loop.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github.com/ghanshyam1011/voice-clone-detector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2026-09-14T14:26:04Z</dcterms:created>
  <dcterms:modified xsi:type="dcterms:W3CDTF">2026-09-14T14:26:04Z</dcterms:modified>
</cp:coreProperties>
</file>