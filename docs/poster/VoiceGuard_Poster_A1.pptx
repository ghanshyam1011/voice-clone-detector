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21387816"/>
  <p:notesSz cx="21387816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063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C:\Users\GHANSHYAM\Desktop\voice-clone-detector\docs\poster\assets\v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7292" y="256032"/>
            <a:ext cx="1981200" cy="713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719304" y="1234440"/>
            <a:ext cx="658368" cy="658368"/>
          </a:xfrm>
          <a:prstGeom prst="hexagon">
            <a:avLst/>
          </a:prstGeom>
          <a:solidFill>
            <a:srgbClr val="2457D6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838176" y="1453896"/>
            <a:ext cx="54864" cy="219456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2952476" y="1394460"/>
            <a:ext cx="54864" cy="338328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3066776" y="1348740"/>
            <a:ext cx="54864" cy="429768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3181076" y="1408176"/>
            <a:ext cx="54864" cy="310896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3263372" y="1467612"/>
            <a:ext cx="54864" cy="192024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578840" y="120700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VoiceGuard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1956816"/>
            <a:ext cx="29452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AI voice-cloning fraud on phone calls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11480" y="2414016"/>
            <a:ext cx="2945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spc="30" kern="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SCALABLE ML AND BDA     |     FACULTY: PROF. SHWETA JAISWAR     |     AY 2025–26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2688336"/>
            <a:ext cx="29452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spc="3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GHANSHYAM KUMAVAT (23102A0043)     |     VIDYALANKAR INSTITUTE OF TECHNOLOGY, DEPARTMENT OF COMPUTER ENGINEERING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" y="3017520"/>
            <a:ext cx="29452824" cy="27432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5" name="Shape 12"/>
          <p:cNvSpPr/>
          <p:nvPr/>
        </p:nvSpPr>
        <p:spPr>
          <a:xfrm>
            <a:off x="411480" y="32461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0080" y="3355848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PROBLEM STATEMENT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40080" y="3794760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" y="3904488"/>
            <a:ext cx="9153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 no longer proves who is speaking.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4306824"/>
            <a:ext cx="91531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seconds of speech are enough for free AI tools to copy someone's voice. Fraudsters use cloned voices to phone banks and call centres, pretend to be a customer, and push through payments or account changes — and the agent has seconds to decide.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5413248"/>
            <a:ext cx="96469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40080" y="5522976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OBJECTIVES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40080" y="5961888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8368" y="6035040"/>
            <a:ext cx="9153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cloned and computer-generated voices on live calls, in real time.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four partly independent kinds of evidence instead of trusting one detector.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plainly how sure the system is, and keep a person in charge of the decision.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honestly, including the failures, and keep callers' audio private by design.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1480" y="7626096"/>
            <a:ext cx="96469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" y="7735824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WHY ONE DETECTOR IS NOT ENOUGH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640080" y="8174736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8368" y="8193024"/>
            <a:ext cx="9153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 benchmark the best published detector reports about 1% error. On real-world audio it errs on 36% — and a current text-to-speech voice was flagged only 8% of the time.</a:t>
            </a:r>
            <a:endParaRPr lang="en-US" sz="1150" dirty="0"/>
          </a:p>
        </p:txBody>
      </p:sp>
      <p:pic>
        <p:nvPicPr>
          <p:cNvPr id="28" name="Image 1" descr="C:\Users\GHANSHYAM\Desktop\voice-clone-detector\docs\poster_figures\1_honest_g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089" y="8778240"/>
            <a:ext cx="4877702" cy="309981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11480" y="12216384"/>
            <a:ext cx="96469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40080" y="12326112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DECISION THRESHOLDS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640080" y="12765024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32" name="Shape 28"/>
          <p:cNvSpPr/>
          <p:nvPr/>
        </p:nvSpPr>
        <p:spPr>
          <a:xfrm>
            <a:off x="640080" y="12838176"/>
            <a:ext cx="1417320" cy="475488"/>
          </a:xfrm>
          <a:prstGeom prst="roundRect">
            <a:avLst>
              <a:gd name="adj" fmla="val 13462"/>
            </a:avLst>
          </a:prstGeom>
          <a:solidFill>
            <a:srgbClr val="17794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40080" y="1285646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2194560" y="12856464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0–39 / 100 · carry on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640080" y="13405104"/>
            <a:ext cx="1417320" cy="475488"/>
          </a:xfrm>
          <a:prstGeom prst="roundRect">
            <a:avLst>
              <a:gd name="adj" fmla="val 13462"/>
            </a:avLst>
          </a:prstGeom>
          <a:solidFill>
            <a:srgbClr val="C07A0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40080" y="134233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2194560" y="13423392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40–69 / 100 · double-check the caller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640080" y="13972032"/>
            <a:ext cx="1417320" cy="475488"/>
          </a:xfrm>
          <a:prstGeom prst="roundRect">
            <a:avLst>
              <a:gd name="adj" fmla="val 13462"/>
            </a:avLst>
          </a:prstGeom>
          <a:solidFill>
            <a:srgbClr val="B3261E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640080" y="139903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2194560" y="13990320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70–100 / 100 · stop and verify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411480" y="14566392"/>
            <a:ext cx="9646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8"/>
          <p:cNvSpPr txBox="1"/>
          <p:nvPr/>
        </p:nvSpPr>
        <p:spPr>
          <a:xfrm>
            <a:off x="640080" y="14676120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DATASET &amp; EVALUATION SCOPE</a:t>
            </a:r>
            <a:endParaRPr lang="en-US" sz="1900" dirty="0"/>
          </a:p>
        </p:txBody>
      </p:sp>
      <p:sp>
        <p:nvSpPr>
          <p:cNvPr id="43" name="Shape 39"/>
          <p:cNvSpPr/>
          <p:nvPr/>
        </p:nvSpPr>
        <p:spPr>
          <a:xfrm>
            <a:off x="640080" y="15115032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658368" y="15188184"/>
            <a:ext cx="9153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2019 LA: train on known attacks, dev (A01–A06) and eval (A07–A19, unknown methods).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In-the-Wild: found audio, never trained on, never used to pick a threshold.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real-world-like situations: rooms, phone codecs, clipping, packet loss, hum, music, background voices.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Modern-clone harness: kNN-VC voice conversion and SpeechT5 synthesis of enrolled speakers never seen in training.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IndicCall-Eval pilot: MMS-TTS synthetic attacks in 5 Indian languages (synthetic side only, so far).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411480" y="17145000"/>
            <a:ext cx="96469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2"/>
          <p:cNvSpPr txBox="1"/>
          <p:nvPr/>
        </p:nvSpPr>
        <p:spPr>
          <a:xfrm>
            <a:off x="640080" y="17254728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HOW THE OPERATOR DECIDES</a:t>
            </a:r>
            <a:endParaRPr lang="en-US" sz="1900" dirty="0"/>
          </a:p>
        </p:txBody>
      </p:sp>
      <p:sp>
        <p:nvSpPr>
          <p:cNvPr id="47" name="Shape 43"/>
          <p:cNvSpPr/>
          <p:nvPr/>
        </p:nvSpPr>
        <p:spPr>
          <a:xfrm>
            <a:off x="640080" y="17693640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658368" y="17766792"/>
            <a:ext cx="9153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console: one plain-language verdict — Looks like the real customer / Double-check / Stop — the four contributing checks, and a scorecard saying whether VoiceGuard was right, including when it missed.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every decision logged with scores, reason codes and model version — never audio, a transcript or a voiceprint.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three transports: REST, WebSocket and gRPC, verified to produce identical decisions on the same clip.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10314432" y="3246120"/>
            <a:ext cx="9646920" cy="5623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6"/>
          <p:cNvSpPr txBox="1"/>
          <p:nvPr/>
        </p:nvSpPr>
        <p:spPr>
          <a:xfrm>
            <a:off x="10543032" y="3355848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WORKFLOW DIAGRAM</a:t>
            </a:r>
            <a:endParaRPr lang="en-US" sz="1900" dirty="0"/>
          </a:p>
        </p:txBody>
      </p:sp>
      <p:sp>
        <p:nvSpPr>
          <p:cNvPr id="51" name="Shape 47"/>
          <p:cNvSpPr/>
          <p:nvPr/>
        </p:nvSpPr>
        <p:spPr>
          <a:xfrm>
            <a:off x="10543032" y="3794760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10543032" y="3831336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partly independent kinds of evidence, combined every half second</a:t>
            </a:r>
            <a:endParaRPr lang="en-US" sz="1350" dirty="0"/>
          </a:p>
        </p:txBody>
      </p:sp>
      <p:sp>
        <p:nvSpPr>
          <p:cNvPr id="53" name="Shape 49"/>
          <p:cNvSpPr/>
          <p:nvPr/>
        </p:nvSpPr>
        <p:spPr>
          <a:xfrm>
            <a:off x="10497312" y="4251960"/>
            <a:ext cx="1051560" cy="1005840"/>
          </a:xfrm>
          <a:prstGeom prst="roundRect">
            <a:avLst>
              <a:gd name="adj" fmla="val 6364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0552176" y="430682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0552176" y="454456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call</a:t>
            </a:r>
            <a:endParaRPr lang="en-US" sz="1250" dirty="0"/>
          </a:p>
        </p:txBody>
      </p:sp>
      <p:sp>
        <p:nvSpPr>
          <p:cNvPr id="56" name="Text 52"/>
          <p:cNvSpPr txBox="1"/>
          <p:nvPr/>
        </p:nvSpPr>
        <p:spPr>
          <a:xfrm>
            <a:off x="10552176" y="4818888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VoIP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microphone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11612880" y="4636008"/>
            <a:ext cx="201168" cy="201168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58" name="Shape 54"/>
          <p:cNvSpPr/>
          <p:nvPr/>
        </p:nvSpPr>
        <p:spPr>
          <a:xfrm>
            <a:off x="11887200" y="4251960"/>
            <a:ext cx="2148840" cy="1005840"/>
          </a:xfrm>
          <a:prstGeom prst="roundRect">
            <a:avLst>
              <a:gd name="adj" fmla="val 6364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1942064" y="4306824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11942064" y="454456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gate</a:t>
            </a:r>
            <a:endParaRPr lang="en-US" sz="1250" dirty="0"/>
          </a:p>
        </p:txBody>
      </p:sp>
      <p:sp>
        <p:nvSpPr>
          <p:cNvPr id="61" name="Text 57"/>
          <p:cNvSpPr txBox="1"/>
          <p:nvPr/>
        </p:nvSpPr>
        <p:spPr>
          <a:xfrm>
            <a:off x="11942064" y="481888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bad audio; says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when unsure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14072616" y="4636008"/>
            <a:ext cx="201168" cy="201168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63" name="Shape 59"/>
          <p:cNvSpPr/>
          <p:nvPr/>
        </p:nvSpPr>
        <p:spPr>
          <a:xfrm>
            <a:off x="14310360" y="4251960"/>
            <a:ext cx="2148840" cy="1005840"/>
          </a:xfrm>
          <a:prstGeom prst="roundRect">
            <a:avLst>
              <a:gd name="adj" fmla="val 6364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14365224" y="4306824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5" name="Text 61"/>
          <p:cNvSpPr txBox="1"/>
          <p:nvPr/>
        </p:nvSpPr>
        <p:spPr>
          <a:xfrm>
            <a:off x="14365224" y="454456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front-end</a:t>
            </a:r>
            <a:endParaRPr lang="en-US" sz="1250" dirty="0"/>
          </a:p>
        </p:txBody>
      </p:sp>
      <p:sp>
        <p:nvSpPr>
          <p:cNvPr id="66" name="Text 62"/>
          <p:cNvSpPr txBox="1"/>
          <p:nvPr/>
        </p:nvSpPr>
        <p:spPr>
          <a:xfrm>
            <a:off x="14365224" y="481888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for real and fake,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recording can't give it away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10497312" y="5577840"/>
            <a:ext cx="2210562" cy="1188720"/>
          </a:xfrm>
          <a:prstGeom prst="roundRect">
            <a:avLst>
              <a:gd name="adj" fmla="val 5385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10552176" y="5632704"/>
            <a:ext cx="2100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10552176" y="5870448"/>
            <a:ext cx="2100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detector</a:t>
            </a:r>
            <a:endParaRPr lang="en-US" sz="1250" dirty="0"/>
          </a:p>
        </p:txBody>
      </p:sp>
      <p:sp>
        <p:nvSpPr>
          <p:cNvPr id="70" name="Text 66"/>
          <p:cNvSpPr txBox="1"/>
          <p:nvPr/>
        </p:nvSpPr>
        <p:spPr>
          <a:xfrm>
            <a:off x="10552176" y="614476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AASIST, tuned for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rooms, phone lines</a:t>
            </a:r>
            <a:endParaRPr lang="en-US" sz="950" dirty="0"/>
          </a:p>
        </p:txBody>
      </p:sp>
      <p:sp>
        <p:nvSpPr>
          <p:cNvPr id="71" name="Shape 67"/>
          <p:cNvSpPr/>
          <p:nvPr/>
        </p:nvSpPr>
        <p:spPr>
          <a:xfrm>
            <a:off x="12854178" y="5577840"/>
            <a:ext cx="2210562" cy="1188720"/>
          </a:xfrm>
          <a:prstGeom prst="roundRect">
            <a:avLst>
              <a:gd name="adj" fmla="val 5385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12909042" y="5632704"/>
            <a:ext cx="2100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12909042" y="5870448"/>
            <a:ext cx="2100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match</a:t>
            </a:r>
            <a:endParaRPr lang="en-US" sz="1250" dirty="0"/>
          </a:p>
        </p:txBody>
      </p:sp>
      <p:sp>
        <p:nvSpPr>
          <p:cNvPr id="74" name="Text 70"/>
          <p:cNvSpPr txBox="1"/>
          <p:nvPr/>
        </p:nvSpPr>
        <p:spPr>
          <a:xfrm>
            <a:off x="12909042" y="614476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print vs.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voice on file</a:t>
            </a:r>
            <a:endParaRPr lang="en-US" sz="950" dirty="0"/>
          </a:p>
        </p:txBody>
      </p:sp>
      <p:sp>
        <p:nvSpPr>
          <p:cNvPr id="75" name="Shape 71"/>
          <p:cNvSpPr/>
          <p:nvPr/>
        </p:nvSpPr>
        <p:spPr>
          <a:xfrm>
            <a:off x="15211044" y="5577840"/>
            <a:ext cx="2210562" cy="1188720"/>
          </a:xfrm>
          <a:prstGeom prst="roundRect">
            <a:avLst>
              <a:gd name="adj" fmla="val 5385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15265908" y="5632704"/>
            <a:ext cx="2100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7" name="Text 73"/>
          <p:cNvSpPr txBox="1"/>
          <p:nvPr/>
        </p:nvSpPr>
        <p:spPr>
          <a:xfrm>
            <a:off x="15265908" y="5870448"/>
            <a:ext cx="2100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style</a:t>
            </a:r>
            <a:endParaRPr lang="en-US" sz="1250" dirty="0"/>
          </a:p>
        </p:txBody>
      </p:sp>
      <p:sp>
        <p:nvSpPr>
          <p:cNvPr id="78" name="Text 74"/>
          <p:cNvSpPr txBox="1"/>
          <p:nvPr/>
        </p:nvSpPr>
        <p:spPr>
          <a:xfrm>
            <a:off x="15265908" y="614476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echo, clipping —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how far to trust #3</a:t>
            </a:r>
            <a:endParaRPr lang="en-US" sz="950" dirty="0"/>
          </a:p>
        </p:txBody>
      </p:sp>
      <p:sp>
        <p:nvSpPr>
          <p:cNvPr id="79" name="Shape 75"/>
          <p:cNvSpPr/>
          <p:nvPr/>
        </p:nvSpPr>
        <p:spPr>
          <a:xfrm>
            <a:off x="17567910" y="5577840"/>
            <a:ext cx="2210562" cy="1188720"/>
          </a:xfrm>
          <a:prstGeom prst="roundRect">
            <a:avLst>
              <a:gd name="adj" fmla="val 5385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17622774" y="5632704"/>
            <a:ext cx="21008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1" name="Text 77"/>
          <p:cNvSpPr txBox="1"/>
          <p:nvPr/>
        </p:nvSpPr>
        <p:spPr>
          <a:xfrm>
            <a:off x="17622774" y="5870448"/>
            <a:ext cx="2100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details</a:t>
            </a:r>
            <a:endParaRPr lang="en-US" sz="1250" dirty="0"/>
          </a:p>
        </p:txBody>
      </p:sp>
      <p:sp>
        <p:nvSpPr>
          <p:cNvPr id="82" name="Text 78"/>
          <p:cNvSpPr txBox="1"/>
          <p:nvPr/>
        </p:nvSpPr>
        <p:spPr>
          <a:xfrm>
            <a:off x="17622774" y="6144768"/>
            <a:ext cx="2100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number? Amount?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the audio</a:t>
            </a:r>
            <a:endParaRPr lang="en-US" sz="950" dirty="0"/>
          </a:p>
        </p:txBody>
      </p:sp>
      <p:sp>
        <p:nvSpPr>
          <p:cNvPr id="83" name="Shape 79"/>
          <p:cNvSpPr/>
          <p:nvPr/>
        </p:nvSpPr>
        <p:spPr>
          <a:xfrm>
            <a:off x="15037308" y="6812280"/>
            <a:ext cx="201168" cy="237744"/>
          </a:xfrm>
          <a:prstGeom prst="downArrow">
            <a:avLst/>
          </a:prstGeom>
          <a:solidFill>
            <a:srgbClr val="9AA6B2"/>
          </a:solidFill>
          <a:ln/>
        </p:spPr>
      </p:sp>
      <p:sp>
        <p:nvSpPr>
          <p:cNvPr id="84" name="Shape 80"/>
          <p:cNvSpPr/>
          <p:nvPr/>
        </p:nvSpPr>
        <p:spPr>
          <a:xfrm>
            <a:off x="10497312" y="7114032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10552176" y="716889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6" name="Text 82"/>
          <p:cNvSpPr txBox="1"/>
          <p:nvPr/>
        </p:nvSpPr>
        <p:spPr>
          <a:xfrm>
            <a:off x="10552176" y="74066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Trust-weighted fusion</a:t>
            </a:r>
            <a:endParaRPr lang="en-US" sz="1250" dirty="0"/>
          </a:p>
        </p:txBody>
      </p:sp>
      <p:sp>
        <p:nvSpPr>
          <p:cNvPr id="87" name="Text 83"/>
          <p:cNvSpPr txBox="1"/>
          <p:nvPr/>
        </p:nvSpPr>
        <p:spPr>
          <a:xfrm>
            <a:off x="10552176" y="76809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voice and call alarms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separate, then combined</a:t>
            </a:r>
            <a:endParaRPr lang="en-US" sz="950" dirty="0"/>
          </a:p>
        </p:txBody>
      </p:sp>
      <p:sp>
        <p:nvSpPr>
          <p:cNvPr id="88" name="Shape 84"/>
          <p:cNvSpPr/>
          <p:nvPr/>
        </p:nvSpPr>
        <p:spPr>
          <a:xfrm>
            <a:off x="13514832" y="7498080"/>
            <a:ext cx="201168" cy="201168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89" name="Shape 85"/>
          <p:cNvSpPr/>
          <p:nvPr/>
        </p:nvSpPr>
        <p:spPr>
          <a:xfrm>
            <a:off x="13807440" y="7114032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F4F6F8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13862304" y="71688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1" name="Text 87"/>
          <p:cNvSpPr txBox="1"/>
          <p:nvPr/>
        </p:nvSpPr>
        <p:spPr>
          <a:xfrm>
            <a:off x="13862304" y="7406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1250" dirty="0"/>
          </a:p>
        </p:txBody>
      </p:sp>
      <p:sp>
        <p:nvSpPr>
          <p:cNvPr id="92" name="Text 88"/>
          <p:cNvSpPr txBox="1"/>
          <p:nvPr/>
        </p:nvSpPr>
        <p:spPr>
          <a:xfrm>
            <a:off x="13862304" y="76809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payment or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call: how much is enough</a:t>
            </a:r>
            <a:endParaRPr lang="en-US" sz="950" dirty="0"/>
          </a:p>
        </p:txBody>
      </p:sp>
      <p:sp>
        <p:nvSpPr>
          <p:cNvPr id="93" name="Shape 89"/>
          <p:cNvSpPr/>
          <p:nvPr/>
        </p:nvSpPr>
        <p:spPr>
          <a:xfrm>
            <a:off x="16276320" y="7498080"/>
            <a:ext cx="201168" cy="201168"/>
          </a:xfrm>
          <a:prstGeom prst="rightArrow">
            <a:avLst/>
          </a:prstGeom>
          <a:solidFill>
            <a:srgbClr val="9AA6B2"/>
          </a:solidFill>
          <a:ln/>
        </p:spPr>
      </p:sp>
      <p:sp>
        <p:nvSpPr>
          <p:cNvPr id="94" name="Shape 90"/>
          <p:cNvSpPr/>
          <p:nvPr/>
        </p:nvSpPr>
        <p:spPr>
          <a:xfrm>
            <a:off x="16568928" y="7114032"/>
            <a:ext cx="3209544" cy="274320"/>
          </a:xfrm>
          <a:prstGeom prst="roundRect">
            <a:avLst>
              <a:gd name="adj" fmla="val 16667"/>
            </a:avLst>
          </a:prstGeom>
          <a:solidFill>
            <a:srgbClr val="17794A"/>
          </a:solidFill>
          <a:ln/>
        </p:spPr>
      </p:sp>
      <p:sp>
        <p:nvSpPr>
          <p:cNvPr id="95" name="Text 91"/>
          <p:cNvSpPr txBox="1"/>
          <p:nvPr/>
        </p:nvSpPr>
        <p:spPr>
          <a:xfrm>
            <a:off x="16642080" y="7114032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50" dirty="0"/>
          </a:p>
        </p:txBody>
      </p:sp>
      <p:sp>
        <p:nvSpPr>
          <p:cNvPr id="96" name="Text 92"/>
          <p:cNvSpPr txBox="1"/>
          <p:nvPr/>
        </p:nvSpPr>
        <p:spPr>
          <a:xfrm>
            <a:off x="18237891" y="7114032"/>
            <a:ext cx="1476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on</a:t>
            </a:r>
            <a:endParaRPr lang="en-US" sz="950" dirty="0"/>
          </a:p>
        </p:txBody>
      </p:sp>
      <p:sp>
        <p:nvSpPr>
          <p:cNvPr id="97" name="Shape 93"/>
          <p:cNvSpPr/>
          <p:nvPr/>
        </p:nvSpPr>
        <p:spPr>
          <a:xfrm>
            <a:off x="16568928" y="7452360"/>
            <a:ext cx="3209544" cy="274320"/>
          </a:xfrm>
          <a:prstGeom prst="roundRect">
            <a:avLst>
              <a:gd name="adj" fmla="val 16667"/>
            </a:avLst>
          </a:prstGeom>
          <a:solidFill>
            <a:srgbClr val="C07A00"/>
          </a:solidFill>
          <a:ln/>
        </p:spPr>
      </p:sp>
      <p:sp>
        <p:nvSpPr>
          <p:cNvPr id="98" name="Text 94"/>
          <p:cNvSpPr txBox="1"/>
          <p:nvPr/>
        </p:nvSpPr>
        <p:spPr>
          <a:xfrm>
            <a:off x="16642080" y="7452360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99" name="Text 95"/>
          <p:cNvSpPr txBox="1"/>
          <p:nvPr/>
        </p:nvSpPr>
        <p:spPr>
          <a:xfrm>
            <a:off x="18237891" y="7452360"/>
            <a:ext cx="1476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</a:t>
            </a:r>
            <a:endParaRPr lang="en-US" sz="950" dirty="0"/>
          </a:p>
        </p:txBody>
      </p:sp>
      <p:sp>
        <p:nvSpPr>
          <p:cNvPr id="100" name="Shape 96"/>
          <p:cNvSpPr/>
          <p:nvPr/>
        </p:nvSpPr>
        <p:spPr>
          <a:xfrm>
            <a:off x="16568928" y="7790688"/>
            <a:ext cx="3209544" cy="274320"/>
          </a:xfrm>
          <a:prstGeom prst="roundRect">
            <a:avLst>
              <a:gd name="adj" fmla="val 16667"/>
            </a:avLst>
          </a:prstGeom>
          <a:solidFill>
            <a:srgbClr val="B3261E"/>
          </a:solidFill>
          <a:ln/>
        </p:spPr>
      </p:sp>
      <p:sp>
        <p:nvSpPr>
          <p:cNvPr id="101" name="Text 97"/>
          <p:cNvSpPr txBox="1"/>
          <p:nvPr/>
        </p:nvSpPr>
        <p:spPr>
          <a:xfrm>
            <a:off x="16642080" y="7790688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50" dirty="0"/>
          </a:p>
        </p:txBody>
      </p:sp>
      <p:sp>
        <p:nvSpPr>
          <p:cNvPr id="102" name="Text 98"/>
          <p:cNvSpPr txBox="1"/>
          <p:nvPr/>
        </p:nvSpPr>
        <p:spPr>
          <a:xfrm>
            <a:off x="18237891" y="7790688"/>
            <a:ext cx="1476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verify</a:t>
            </a:r>
            <a:endParaRPr lang="en-US" sz="950" dirty="0"/>
          </a:p>
        </p:txBody>
      </p:sp>
      <p:sp>
        <p:nvSpPr>
          <p:cNvPr id="103" name="Text 99"/>
          <p:cNvSpPr txBox="1"/>
          <p:nvPr/>
        </p:nvSpPr>
        <p:spPr>
          <a:xfrm>
            <a:off x="10543032" y="8247888"/>
            <a:ext cx="9189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style can only change how far the detector is trusted — never raise an alarm on its own. This fixed a real false alarm on a genuine WhatsApp voice note.</a:t>
            </a:r>
            <a:endParaRPr lang="en-US" sz="1050" dirty="0"/>
          </a:p>
        </p:txBody>
      </p:sp>
      <p:sp>
        <p:nvSpPr>
          <p:cNvPr id="104" name="Shape 100"/>
          <p:cNvSpPr/>
          <p:nvPr/>
        </p:nvSpPr>
        <p:spPr>
          <a:xfrm>
            <a:off x="10314432" y="9070848"/>
            <a:ext cx="96469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5" name="Text 101"/>
          <p:cNvSpPr txBox="1"/>
          <p:nvPr/>
        </p:nvSpPr>
        <p:spPr>
          <a:xfrm>
            <a:off x="10543032" y="9180576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AND TOOLS USED</a:t>
            </a:r>
            <a:endParaRPr lang="en-US" sz="1900" dirty="0"/>
          </a:p>
        </p:txBody>
      </p:sp>
      <p:sp>
        <p:nvSpPr>
          <p:cNvPr id="106" name="Shape 102"/>
          <p:cNvSpPr/>
          <p:nvPr/>
        </p:nvSpPr>
        <p:spPr>
          <a:xfrm>
            <a:off x="10543032" y="9619488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07" name="Text 103"/>
          <p:cNvSpPr txBox="1"/>
          <p:nvPr/>
        </p:nvSpPr>
        <p:spPr>
          <a:xfrm>
            <a:off x="10543032" y="9692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" kern="0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08" name="Text 104"/>
          <p:cNvSpPr txBox="1"/>
          <p:nvPr/>
        </p:nvSpPr>
        <p:spPr>
          <a:xfrm>
            <a:off x="12554712" y="9692640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 anti-spoofing network · WavLM voice embeddings · Silero VAD · RawBoost</a:t>
            </a:r>
            <a:endParaRPr lang="en-US" sz="1300" dirty="0"/>
          </a:p>
        </p:txBody>
      </p:sp>
      <p:sp>
        <p:nvSpPr>
          <p:cNvPr id="109" name="Text 105"/>
          <p:cNvSpPr txBox="1"/>
          <p:nvPr/>
        </p:nvSpPr>
        <p:spPr>
          <a:xfrm>
            <a:off x="10543032" y="9994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" kern="0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10" name="Text 106"/>
          <p:cNvSpPr txBox="1"/>
          <p:nvPr/>
        </p:nvSpPr>
        <p:spPr>
          <a:xfrm>
            <a:off x="12554712" y="999439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PyTorch · scikit-learn · NumPy / pandas / librosa</a:t>
            </a:r>
            <a:endParaRPr lang="en-US" sz="1300" dirty="0"/>
          </a:p>
        </p:txBody>
      </p:sp>
      <p:sp>
        <p:nvSpPr>
          <p:cNvPr id="111" name="Text 107"/>
          <p:cNvSpPr txBox="1"/>
          <p:nvPr/>
        </p:nvSpPr>
        <p:spPr>
          <a:xfrm>
            <a:off x="10543032" y="1029614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" kern="0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112" name="Text 108"/>
          <p:cNvSpPr txBox="1"/>
          <p:nvPr/>
        </p:nvSpPr>
        <p:spPr>
          <a:xfrm>
            <a:off x="12554712" y="1029614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WebSocket · gRPC + Protocol Buffers</a:t>
            </a:r>
            <a:endParaRPr lang="en-US" sz="1300" dirty="0"/>
          </a:p>
        </p:txBody>
      </p:sp>
      <p:sp>
        <p:nvSpPr>
          <p:cNvPr id="113" name="Text 109"/>
          <p:cNvSpPr txBox="1"/>
          <p:nvPr/>
        </p:nvSpPr>
        <p:spPr>
          <a:xfrm>
            <a:off x="10543032" y="105978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" kern="0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4" name="Text 110"/>
          <p:cNvSpPr txBox="1"/>
          <p:nvPr/>
        </p:nvSpPr>
        <p:spPr>
          <a:xfrm>
            <a:off x="12554712" y="1059789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2019 · In-the-Wild · LibriSpeech · kNN-VC / SpeechT5 / MMS clones</a:t>
            </a:r>
            <a:endParaRPr lang="en-US" sz="1300" dirty="0"/>
          </a:p>
        </p:txBody>
      </p:sp>
      <p:sp>
        <p:nvSpPr>
          <p:cNvPr id="115" name="Text 111"/>
          <p:cNvSpPr txBox="1"/>
          <p:nvPr/>
        </p:nvSpPr>
        <p:spPr>
          <a:xfrm>
            <a:off x="10543032" y="10899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" kern="0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116" name="Text 112"/>
          <p:cNvSpPr txBox="1"/>
          <p:nvPr/>
        </p:nvSpPr>
        <p:spPr>
          <a:xfrm>
            <a:off x="12554712" y="10899648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268 tests · ruff · Git / GitHub</a:t>
            </a:r>
            <a:endParaRPr lang="en-US" sz="1300" dirty="0"/>
          </a:p>
        </p:txBody>
      </p:sp>
      <p:sp>
        <p:nvSpPr>
          <p:cNvPr id="117" name="Shape 113"/>
          <p:cNvSpPr/>
          <p:nvPr/>
        </p:nvSpPr>
        <p:spPr>
          <a:xfrm>
            <a:off x="10314432" y="11420856"/>
            <a:ext cx="9646920" cy="8238744"/>
          </a:xfrm>
          <a:prstGeom prst="roundRect">
            <a:avLst>
              <a:gd name="adj" fmla="val 1332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8" name="Text 114"/>
          <p:cNvSpPr txBox="1"/>
          <p:nvPr/>
        </p:nvSpPr>
        <p:spPr>
          <a:xfrm>
            <a:off x="10543032" y="11530584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CONSOLE IN ACTION</a:t>
            </a:r>
            <a:endParaRPr lang="en-US" sz="1900" dirty="0"/>
          </a:p>
        </p:txBody>
      </p:sp>
      <p:sp>
        <p:nvSpPr>
          <p:cNvPr id="119" name="Shape 115"/>
          <p:cNvSpPr/>
          <p:nvPr/>
        </p:nvSpPr>
        <p:spPr>
          <a:xfrm>
            <a:off x="10543032" y="11969496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20" name="Text 116"/>
          <p:cNvSpPr txBox="1"/>
          <p:nvPr/>
        </p:nvSpPr>
        <p:spPr>
          <a:xfrm>
            <a:off x="10543032" y="11987784"/>
            <a:ext cx="9189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from the live console, playing three built-in demo calls. The scorecard tells you whether VoiceGuard was right, including when it missed.</a:t>
            </a:r>
            <a:endParaRPr lang="en-US" sz="1150" dirty="0"/>
          </a:p>
        </p:txBody>
      </p:sp>
      <p:sp>
        <p:nvSpPr>
          <p:cNvPr id="121" name="Shape 117"/>
          <p:cNvSpPr/>
          <p:nvPr/>
        </p:nvSpPr>
        <p:spPr>
          <a:xfrm>
            <a:off x="10543032" y="12298680"/>
            <a:ext cx="2941320" cy="256032"/>
          </a:xfrm>
          <a:prstGeom prst="roundRect">
            <a:avLst>
              <a:gd name="adj" fmla="val 14286"/>
            </a:avLst>
          </a:prstGeom>
          <a:solidFill>
            <a:srgbClr val="17794A"/>
          </a:solidFill>
          <a:ln/>
        </p:spPr>
      </p:sp>
      <p:sp>
        <p:nvSpPr>
          <p:cNvPr id="122" name="Text 118"/>
          <p:cNvSpPr txBox="1"/>
          <p:nvPr/>
        </p:nvSpPr>
        <p:spPr>
          <a:xfrm>
            <a:off x="10543032" y="12298680"/>
            <a:ext cx="294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customer</a:t>
            </a:r>
            <a:endParaRPr lang="en-US" sz="950" dirty="0"/>
          </a:p>
        </p:txBody>
      </p:sp>
      <p:pic>
        <p:nvPicPr>
          <p:cNvPr id="123" name="Image 2" descr="C:\Users\GHANSHYAM\Desktop\voice-clone-detector\docs\poster\shots\console_r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2609576"/>
            <a:ext cx="2941320" cy="5766881"/>
          </a:xfrm>
          <a:prstGeom prst="rect">
            <a:avLst/>
          </a:prstGeom>
        </p:spPr>
      </p:pic>
      <p:sp>
        <p:nvSpPr>
          <p:cNvPr id="124" name="Text 119"/>
          <p:cNvSpPr txBox="1"/>
          <p:nvPr/>
        </p:nvSpPr>
        <p:spPr>
          <a:xfrm>
            <a:off x="10543032" y="18928080"/>
            <a:ext cx="294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answer, low risk. Scorecard: Correct.</a:t>
            </a:r>
            <a:endParaRPr lang="en-US" sz="900" dirty="0"/>
          </a:p>
        </p:txBody>
      </p:sp>
      <p:sp>
        <p:nvSpPr>
          <p:cNvPr id="125" name="Shape 120"/>
          <p:cNvSpPr/>
          <p:nvPr/>
        </p:nvSpPr>
        <p:spPr>
          <a:xfrm>
            <a:off x="13667232" y="12298680"/>
            <a:ext cx="2941320" cy="256032"/>
          </a:xfrm>
          <a:prstGeom prst="roundRect">
            <a:avLst>
              <a:gd name="adj" fmla="val 14286"/>
            </a:avLst>
          </a:prstGeom>
          <a:solidFill>
            <a:srgbClr val="B3261E"/>
          </a:solidFill>
          <a:ln/>
        </p:spPr>
      </p:sp>
      <p:sp>
        <p:nvSpPr>
          <p:cNvPr id="126" name="Text 121"/>
          <p:cNvSpPr txBox="1"/>
          <p:nvPr/>
        </p:nvSpPr>
        <p:spPr>
          <a:xfrm>
            <a:off x="13667232" y="12298680"/>
            <a:ext cx="294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cloned voice</a:t>
            </a:r>
            <a:endParaRPr lang="en-US" sz="950" dirty="0"/>
          </a:p>
        </p:txBody>
      </p:sp>
      <p:pic>
        <p:nvPicPr>
          <p:cNvPr id="127" name="Image 3" descr="C:\Users\GHANSHYAM\Desktop\voice-clone-detector\docs\poster\shots\console_f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7232" y="12609576"/>
            <a:ext cx="2941320" cy="5914211"/>
          </a:xfrm>
          <a:prstGeom prst="rect">
            <a:avLst/>
          </a:prstGeom>
        </p:spPr>
      </p:pic>
      <p:sp>
        <p:nvSpPr>
          <p:cNvPr id="128" name="Text 122"/>
          <p:cNvSpPr txBox="1"/>
          <p:nvPr/>
        </p:nvSpPr>
        <p:spPr>
          <a:xfrm>
            <a:off x="13667232" y="18928080"/>
            <a:ext cx="294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Stop, with what to do: pause the payment, call the customer back.</a:t>
            </a:r>
            <a:endParaRPr lang="en-US" sz="900" dirty="0"/>
          </a:p>
        </p:txBody>
      </p:sp>
      <p:sp>
        <p:nvSpPr>
          <p:cNvPr id="129" name="Shape 123"/>
          <p:cNvSpPr/>
          <p:nvPr/>
        </p:nvSpPr>
        <p:spPr>
          <a:xfrm>
            <a:off x="16857359" y="12298680"/>
            <a:ext cx="2809466" cy="256032"/>
          </a:xfrm>
          <a:prstGeom prst="roundRect">
            <a:avLst>
              <a:gd name="adj" fmla="val 14286"/>
            </a:avLst>
          </a:prstGeom>
          <a:solidFill>
            <a:srgbClr val="C07A00"/>
          </a:solidFill>
          <a:ln/>
        </p:spPr>
      </p:sp>
      <p:sp>
        <p:nvSpPr>
          <p:cNvPr id="130" name="Text 124"/>
          <p:cNvSpPr txBox="1"/>
          <p:nvPr/>
        </p:nvSpPr>
        <p:spPr>
          <a:xfrm>
            <a:off x="16857359" y="12298680"/>
            <a:ext cx="2809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hard case</a:t>
            </a:r>
            <a:endParaRPr lang="en-US" sz="950" dirty="0"/>
          </a:p>
        </p:txBody>
      </p:sp>
      <p:pic>
        <p:nvPicPr>
          <p:cNvPr id="131" name="Image 4" descr="C:\Users\GHANSHYAM\Desktop\voice-clone-detector\docs\poster\shots\console_h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7359" y="12609576"/>
            <a:ext cx="2809466" cy="6227064"/>
          </a:xfrm>
          <a:prstGeom prst="rect">
            <a:avLst/>
          </a:prstGeom>
        </p:spPr>
      </p:pic>
      <p:sp>
        <p:nvSpPr>
          <p:cNvPr id="132" name="Text 125"/>
          <p:cNvSpPr txBox="1"/>
          <p:nvPr/>
        </p:nvSpPr>
        <p:spPr>
          <a:xfrm>
            <a:off x="16791432" y="18928080"/>
            <a:ext cx="294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open-source clone: warned early, then eased off. We show misses too.</a:t>
            </a:r>
            <a:endParaRPr lang="en-US" sz="900" dirty="0"/>
          </a:p>
        </p:txBody>
      </p:sp>
      <p:sp>
        <p:nvSpPr>
          <p:cNvPr id="133" name="Shape 126"/>
          <p:cNvSpPr/>
          <p:nvPr/>
        </p:nvSpPr>
        <p:spPr>
          <a:xfrm>
            <a:off x="20217384" y="3246120"/>
            <a:ext cx="96469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4" name="Text 127"/>
          <p:cNvSpPr txBox="1"/>
          <p:nvPr/>
        </p:nvSpPr>
        <p:spPr>
          <a:xfrm>
            <a:off x="20445984" y="3355848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A GLANCE</a:t>
            </a:r>
            <a:endParaRPr lang="en-US" sz="1900" dirty="0"/>
          </a:p>
        </p:txBody>
      </p:sp>
      <p:sp>
        <p:nvSpPr>
          <p:cNvPr id="135" name="Shape 128"/>
          <p:cNvSpPr/>
          <p:nvPr/>
        </p:nvSpPr>
        <p:spPr>
          <a:xfrm>
            <a:off x="20445984" y="3794760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36" name="Shape 129"/>
          <p:cNvSpPr/>
          <p:nvPr/>
        </p:nvSpPr>
        <p:spPr>
          <a:xfrm>
            <a:off x="20445984" y="386791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37" name="Text 130"/>
          <p:cNvSpPr txBox="1"/>
          <p:nvPr/>
        </p:nvSpPr>
        <p:spPr>
          <a:xfrm>
            <a:off x="20519136" y="395935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90.2%</a:t>
            </a:r>
            <a:endParaRPr lang="en-US" sz="2600" dirty="0"/>
          </a:p>
        </p:txBody>
      </p:sp>
      <p:sp>
        <p:nvSpPr>
          <p:cNvPr id="138" name="Text 131"/>
          <p:cNvSpPr txBox="1"/>
          <p:nvPr/>
        </p:nvSpPr>
        <p:spPr>
          <a:xfrm>
            <a:off x="20519136" y="4398264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unseen speakers</a:t>
            </a:r>
            <a:endParaRPr lang="en-US" sz="1150" dirty="0"/>
          </a:p>
        </p:txBody>
      </p:sp>
      <p:sp>
        <p:nvSpPr>
          <p:cNvPr id="139" name="Shape 132"/>
          <p:cNvSpPr/>
          <p:nvPr/>
        </p:nvSpPr>
        <p:spPr>
          <a:xfrm>
            <a:off x="23554944" y="386791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40" name="Text 133"/>
          <p:cNvSpPr txBox="1"/>
          <p:nvPr/>
        </p:nvSpPr>
        <p:spPr>
          <a:xfrm>
            <a:off x="23628096" y="395935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86.6%</a:t>
            </a:r>
            <a:endParaRPr lang="en-US" sz="2600" dirty="0"/>
          </a:p>
        </p:txBody>
      </p:sp>
      <p:sp>
        <p:nvSpPr>
          <p:cNvPr id="141" name="Text 134"/>
          <p:cNvSpPr txBox="1"/>
          <p:nvPr/>
        </p:nvSpPr>
        <p:spPr>
          <a:xfrm>
            <a:off x="23628096" y="4398264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unseen situations</a:t>
            </a:r>
            <a:endParaRPr lang="en-US" sz="1150" dirty="0"/>
          </a:p>
        </p:txBody>
      </p:sp>
      <p:sp>
        <p:nvSpPr>
          <p:cNvPr id="142" name="Shape 135"/>
          <p:cNvSpPr/>
          <p:nvPr/>
        </p:nvSpPr>
        <p:spPr>
          <a:xfrm>
            <a:off x="26663904" y="386791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43" name="Text 136"/>
          <p:cNvSpPr txBox="1"/>
          <p:nvPr/>
        </p:nvSpPr>
        <p:spPr>
          <a:xfrm>
            <a:off x="26737056" y="395935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35.8%</a:t>
            </a:r>
            <a:endParaRPr lang="en-US" sz="2600" dirty="0"/>
          </a:p>
        </p:txBody>
      </p:sp>
      <p:sp>
        <p:nvSpPr>
          <p:cNvPr id="144" name="Text 137"/>
          <p:cNvSpPr txBox="1"/>
          <p:nvPr/>
        </p:nvSpPr>
        <p:spPr>
          <a:xfrm>
            <a:off x="26737056" y="4398264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 EER (was 58.2%)</a:t>
            </a:r>
            <a:endParaRPr lang="en-US" sz="1150" dirty="0"/>
          </a:p>
        </p:txBody>
      </p:sp>
      <p:sp>
        <p:nvSpPr>
          <p:cNvPr id="145" name="Shape 138"/>
          <p:cNvSpPr/>
          <p:nvPr/>
        </p:nvSpPr>
        <p:spPr>
          <a:xfrm>
            <a:off x="20445984" y="491947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46" name="Text 139"/>
          <p:cNvSpPr txBox="1"/>
          <p:nvPr/>
        </p:nvSpPr>
        <p:spPr>
          <a:xfrm>
            <a:off x="20519136" y="501091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71–75%</a:t>
            </a:r>
            <a:endParaRPr lang="en-US" sz="2600" dirty="0"/>
          </a:p>
        </p:txBody>
      </p:sp>
      <p:sp>
        <p:nvSpPr>
          <p:cNvPr id="147" name="Text 140"/>
          <p:cNvSpPr txBox="1"/>
          <p:nvPr/>
        </p:nvSpPr>
        <p:spPr>
          <a:xfrm>
            <a:off x="20519136" y="5449824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clones caught, clean line</a:t>
            </a:r>
            <a:endParaRPr lang="en-US" sz="1150" dirty="0"/>
          </a:p>
        </p:txBody>
      </p:sp>
      <p:sp>
        <p:nvSpPr>
          <p:cNvPr id="148" name="Shape 141"/>
          <p:cNvSpPr/>
          <p:nvPr/>
        </p:nvSpPr>
        <p:spPr>
          <a:xfrm>
            <a:off x="23554944" y="491947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49" name="Text 142"/>
          <p:cNvSpPr txBox="1"/>
          <p:nvPr/>
        </p:nvSpPr>
        <p:spPr>
          <a:xfrm>
            <a:off x="23628096" y="501091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2600" dirty="0"/>
          </a:p>
        </p:txBody>
      </p:sp>
      <p:sp>
        <p:nvSpPr>
          <p:cNvPr id="150" name="Text 143"/>
          <p:cNvSpPr txBox="1"/>
          <p:nvPr/>
        </p:nvSpPr>
        <p:spPr>
          <a:xfrm>
            <a:off x="23628096" y="5449824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150" dirty="0"/>
          </a:p>
        </p:txBody>
      </p:sp>
      <p:sp>
        <p:nvSpPr>
          <p:cNvPr id="151" name="Shape 144"/>
          <p:cNvSpPr/>
          <p:nvPr/>
        </p:nvSpPr>
        <p:spPr>
          <a:xfrm>
            <a:off x="26663904" y="491947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52" name="Text 145"/>
          <p:cNvSpPr txBox="1"/>
          <p:nvPr/>
        </p:nvSpPr>
        <p:spPr>
          <a:xfrm>
            <a:off x="26737056" y="501091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153" name="Text 146"/>
          <p:cNvSpPr txBox="1"/>
          <p:nvPr/>
        </p:nvSpPr>
        <p:spPr>
          <a:xfrm>
            <a:off x="26737056" y="5449824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real-world-like situations tested</a:t>
            </a:r>
            <a:endParaRPr lang="en-US" sz="1150" dirty="0"/>
          </a:p>
        </p:txBody>
      </p:sp>
      <p:sp>
        <p:nvSpPr>
          <p:cNvPr id="154" name="Shape 147"/>
          <p:cNvSpPr/>
          <p:nvPr/>
        </p:nvSpPr>
        <p:spPr>
          <a:xfrm>
            <a:off x="20217384" y="6144768"/>
            <a:ext cx="9646920" cy="576072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5" name="Text 148"/>
          <p:cNvSpPr txBox="1"/>
          <p:nvPr/>
        </p:nvSpPr>
        <p:spPr>
          <a:xfrm>
            <a:off x="20445984" y="6254496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&amp; ROBUSTNESS BENCHMARK</a:t>
            </a:r>
            <a:endParaRPr lang="en-US" sz="1900" dirty="0"/>
          </a:p>
        </p:txBody>
      </p:sp>
      <p:sp>
        <p:nvSpPr>
          <p:cNvPr id="156" name="Shape 149"/>
          <p:cNvSpPr/>
          <p:nvPr/>
        </p:nvSpPr>
        <p:spPr>
          <a:xfrm>
            <a:off x="20445984" y="6693408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pic>
        <p:nvPicPr>
          <p:cNvPr id="157" name="Image 5" descr="C:\Users\GHANSHYAM\Desktop\voice-clone-detector\docs\poster_figures\4_fusion_beats_single_signa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82242" y="6729984"/>
            <a:ext cx="8517205" cy="4535424"/>
          </a:xfrm>
          <a:prstGeom prst="rect">
            <a:avLst/>
          </a:prstGeom>
        </p:spPr>
      </p:pic>
      <p:sp>
        <p:nvSpPr>
          <p:cNvPr id="158" name="Text 150"/>
          <p:cNvSpPr txBox="1"/>
          <p:nvPr/>
        </p:nvSpPr>
        <p:spPr>
          <a:xfrm>
            <a:off x="20445984" y="11338560"/>
            <a:ext cx="918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Speaker-disjoint evaluation: the countermeasure alone 73.6% → hand-set fusion 83.9% → VoiceGuard's learned, channel-aware fusion 90.2% balanced accuracy.</a:t>
            </a:r>
            <a:endParaRPr lang="en-US" sz="1050" dirty="0"/>
          </a:p>
        </p:txBody>
      </p:sp>
      <p:sp>
        <p:nvSpPr>
          <p:cNvPr id="159" name="Shape 151"/>
          <p:cNvSpPr/>
          <p:nvPr/>
        </p:nvSpPr>
        <p:spPr>
          <a:xfrm>
            <a:off x="20217384" y="12106656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0" name="Text 152"/>
          <p:cNvSpPr txBox="1"/>
          <p:nvPr/>
        </p:nvSpPr>
        <p:spPr>
          <a:xfrm>
            <a:off x="20445984" y="12216384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61" name="Shape 153"/>
          <p:cNvSpPr/>
          <p:nvPr/>
        </p:nvSpPr>
        <p:spPr>
          <a:xfrm>
            <a:off x="20445984" y="12655296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62" name="Text 154"/>
          <p:cNvSpPr txBox="1"/>
          <p:nvPr/>
        </p:nvSpPr>
        <p:spPr>
          <a:xfrm>
            <a:off x="20464272" y="12728448"/>
            <a:ext cx="9153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pipeline: anti-shortcut evaluation → four-signal fusion → policy decision → audited console.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honestly: real-world EER improves 58.2% → 35.8%; fused balanced accuracy reaches 90.2% on unseen speakers.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partly independent signals, not any single detector, is what makes the decision trustworthy.</a:t>
            </a:r>
            <a:endParaRPr lang="en-US" sz="1200" dirty="0"/>
          </a:p>
        </p:txBody>
      </p:sp>
      <p:sp>
        <p:nvSpPr>
          <p:cNvPr id="163" name="Shape 155"/>
          <p:cNvSpPr/>
          <p:nvPr/>
        </p:nvSpPr>
        <p:spPr>
          <a:xfrm>
            <a:off x="20217384" y="14273784"/>
            <a:ext cx="96469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4" name="Text 156"/>
          <p:cNvSpPr txBox="1"/>
          <p:nvPr/>
        </p:nvSpPr>
        <p:spPr>
          <a:xfrm>
            <a:off x="20445984" y="14383512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1900" dirty="0"/>
          </a:p>
        </p:txBody>
      </p:sp>
      <p:sp>
        <p:nvSpPr>
          <p:cNvPr id="165" name="Shape 157"/>
          <p:cNvSpPr/>
          <p:nvPr/>
        </p:nvSpPr>
        <p:spPr>
          <a:xfrm>
            <a:off x="20445984" y="14822424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66" name="Text 158"/>
          <p:cNvSpPr txBox="1"/>
          <p:nvPr/>
        </p:nvSpPr>
        <p:spPr>
          <a:xfrm>
            <a:off x="20464272" y="14895576"/>
            <a:ext cx="9153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real-world audio the detector alone is weak (35.8% EER); it supports the decision, it does not make it alone.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simulated rooms, lines and codecs, not recorded real calls; Indian-language results are a small synthetic pilot.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simulated; authentication / TLS hardening is not yet built.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train on modern cloning tools, collect consented real calls and Indian-language speech, real alert delivery, edge inference.</a:t>
            </a:r>
            <a:endParaRPr lang="en-US" sz="1150" dirty="0"/>
          </a:p>
        </p:txBody>
      </p:sp>
      <p:sp>
        <p:nvSpPr>
          <p:cNvPr id="167" name="Shape 159"/>
          <p:cNvSpPr/>
          <p:nvPr/>
        </p:nvSpPr>
        <p:spPr>
          <a:xfrm>
            <a:off x="20217384" y="16898112"/>
            <a:ext cx="9646920" cy="2761488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8" name="Text 160"/>
          <p:cNvSpPr txBox="1"/>
          <p:nvPr/>
        </p:nvSpPr>
        <p:spPr>
          <a:xfrm>
            <a:off x="20445984" y="17007840"/>
            <a:ext cx="9189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169" name="Shape 161"/>
          <p:cNvSpPr/>
          <p:nvPr/>
        </p:nvSpPr>
        <p:spPr>
          <a:xfrm>
            <a:off x="20445984" y="17446752"/>
            <a:ext cx="9189720" cy="25603"/>
          </a:xfrm>
          <a:prstGeom prst="rect">
            <a:avLst/>
          </a:prstGeom>
          <a:solidFill>
            <a:srgbClr val="10233F"/>
          </a:solidFill>
          <a:ln/>
        </p:spPr>
      </p:sp>
      <p:sp>
        <p:nvSpPr>
          <p:cNvPr id="170" name="Text 162"/>
          <p:cNvSpPr txBox="1"/>
          <p:nvPr/>
        </p:nvSpPr>
        <p:spPr>
          <a:xfrm>
            <a:off x="20464272" y="17501616"/>
            <a:ext cx="915314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Jung et al., “AASIST: Audio Anti-Spoofing Using Integrated Spectro-Temporal Graph Attention Networks,” ICASSP 2022.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X. Wang et al., “ASVspoof 2019: A Large-Scale Public Database of Synthesized, Converted and Replayed Speech,” 2020.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N. Müller et al., “Does Audio Deepfake Detection Generalize?,” Interspeech 2022 (In-the-Wild).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Chen et al., “WavLM: Large-Scale Self-Supervised Pre-Training for Full Stack Speech Processing,” 2022.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H. Tak et al., “RawBoost: A Raw Data Boosting and Augmentation Method for Speech Anti-Spoofing,” ICASSP 2022.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G. Kumavat, “VoiceGuard — source code, results and model card,” GitHub repository, 2026.</a:t>
            </a:r>
            <a:endParaRPr lang="en-US" sz="950" dirty="0"/>
          </a:p>
        </p:txBody>
      </p:sp>
      <p:sp>
        <p:nvSpPr>
          <p:cNvPr id="171" name="Text 163"/>
          <p:cNvSpPr txBox="1"/>
          <p:nvPr/>
        </p:nvSpPr>
        <p:spPr>
          <a:xfrm>
            <a:off x="20464272" y="19348704"/>
            <a:ext cx="9153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https://github.com/ghanshyam1011/voice-clone-detector</a:t>
            </a:r>
            <a:endParaRPr lang="en-US" sz="1100" dirty="0"/>
          </a:p>
        </p:txBody>
      </p:sp>
      <p:sp>
        <p:nvSpPr>
          <p:cNvPr id="172" name="Shape 164"/>
          <p:cNvSpPr/>
          <p:nvPr/>
        </p:nvSpPr>
        <p:spPr>
          <a:xfrm>
            <a:off x="411480" y="19860768"/>
            <a:ext cx="1458925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3" name="Text 165"/>
          <p:cNvSpPr txBox="1"/>
          <p:nvPr/>
        </p:nvSpPr>
        <p:spPr>
          <a:xfrm>
            <a:off x="548640" y="19970496"/>
            <a:ext cx="14314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 / FACULTY SIGNATURE</a:t>
            </a:r>
            <a:endParaRPr lang="en-US" sz="1200" dirty="0"/>
          </a:p>
        </p:txBody>
      </p:sp>
      <p:sp>
        <p:nvSpPr>
          <p:cNvPr id="174" name="Text 166"/>
          <p:cNvSpPr txBox="1"/>
          <p:nvPr/>
        </p:nvSpPr>
        <p:spPr>
          <a:xfrm>
            <a:off x="594360" y="20363688"/>
            <a:ext cx="14223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75" name="Shape 167"/>
          <p:cNvSpPr/>
          <p:nvPr/>
        </p:nvSpPr>
        <p:spPr>
          <a:xfrm>
            <a:off x="15275052" y="19860768"/>
            <a:ext cx="1458925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6" name="Text 168"/>
          <p:cNvSpPr txBox="1"/>
          <p:nvPr/>
        </p:nvSpPr>
        <p:spPr>
          <a:xfrm>
            <a:off x="15412212" y="19970496"/>
            <a:ext cx="14314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EXAMINER SIGNATURE</a:t>
            </a:r>
            <a:endParaRPr lang="en-US" sz="1200" dirty="0"/>
          </a:p>
        </p:txBody>
      </p:sp>
      <p:sp>
        <p:nvSpPr>
          <p:cNvPr id="177" name="Text 169"/>
          <p:cNvSpPr txBox="1"/>
          <p:nvPr/>
        </p:nvSpPr>
        <p:spPr>
          <a:xfrm>
            <a:off x="15457932" y="20363688"/>
            <a:ext cx="14223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2026-10-23T17:41:30Z</dcterms:created>
  <dcterms:modified xsi:type="dcterms:W3CDTF">2026-10-23T17:41:30Z</dcterms:modified>
</cp:coreProperties>
</file>